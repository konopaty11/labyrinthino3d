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1EEFF"/>
    <a:srgbClr val="FFFCE1"/>
    <a:srgbClr val="FFF6B9"/>
    <a:srgbClr val="F6FFCF"/>
    <a:srgbClr val="CFD6FF"/>
    <a:srgbClr val="9FE5FF"/>
    <a:srgbClr val="0041E6"/>
    <a:srgbClr val="0072E6"/>
    <a:srgbClr val="1BBCFF"/>
    <a:srgbClr val="479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7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вал 12"/>
          <p:cNvSpPr/>
          <p:nvPr/>
        </p:nvSpPr>
        <p:spPr>
          <a:xfrm rot="20940000">
            <a:off x="11662410" y="1649095"/>
            <a:ext cx="403225" cy="403225"/>
          </a:xfrm>
          <a:prstGeom prst="ellipse">
            <a:avLst/>
          </a:prstGeom>
          <a:solidFill>
            <a:srgbClr val="0072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4" name="Picture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4430" y="511175"/>
            <a:ext cx="4802505" cy="3250565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 rot="20940000">
            <a:off x="10934065" y="975360"/>
            <a:ext cx="1022985" cy="1022985"/>
          </a:xfrm>
          <a:prstGeom prst="ellipse">
            <a:avLst/>
          </a:prstGeom>
          <a:solidFill>
            <a:srgbClr val="0016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64845" y="4201160"/>
            <a:ext cx="10962640" cy="3141345"/>
          </a:xfrm>
          <a:prstGeom prst="roundRect">
            <a:avLst/>
          </a:prstGeom>
          <a:solidFill>
            <a:srgbClr val="4040B2"/>
          </a:solidFill>
          <a:ln w="63500">
            <a:gradFill>
              <a:gsLst>
                <a:gs pos="0">
                  <a:srgbClr val="00A0FC"/>
                </a:gs>
                <a:gs pos="100000">
                  <a:srgbClr val="1B00EA"/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2766695" y="4652010"/>
            <a:ext cx="68065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2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Конкурсант: Колотилин Артём</a:t>
            </a:r>
            <a:br>
              <a:rPr lang="ru-RU" altLang="en-US" sz="32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</a:br>
            <a:endParaRPr lang="ru-RU" altLang="en-US" sz="3200">
              <a:solidFill>
                <a:schemeClr val="bg1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3098165" y="572833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32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479EFF"/>
                    </a:gs>
                  </a:gsLst>
                  <a:lin ang="5400000" scaled="0"/>
                </a:gradFill>
                <a:latin typeface="Franklin Gothic Book" panose="020B0503020102020204" charset="0"/>
                <a:cs typeface="Franklin Gothic Book" panose="020B0503020102020204" charset="0"/>
                <a:sym typeface="+mn-ea"/>
              </a:rPr>
              <a:t>Оренбург</a:t>
            </a:r>
            <a:endParaRPr lang="ru-RU" altLang="en-US" sz="32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479EFF"/>
                  </a:gs>
                </a:gsLst>
                <a:lin ang="5400000" scaled="0"/>
              </a:gradFill>
              <a:latin typeface="Franklin Gothic Book" panose="020B0503020102020204" charset="0"/>
              <a:cs typeface="Franklin Gothic Book" panose="020B0503020102020204" charset="0"/>
              <a:sym typeface="+mn-ea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 rot="20940000">
            <a:off x="10934700" y="1195070"/>
            <a:ext cx="1021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20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3</a:t>
            </a:r>
            <a:r>
              <a:rPr lang="en-US" altLang="en-US" sz="320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D</a:t>
            </a:r>
            <a:endParaRPr lang="en-US" altLang="en-US" sz="3200">
              <a:solidFill>
                <a:schemeClr val="bg1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2" name="Овал 11"/>
          <p:cNvSpPr/>
          <p:nvPr/>
        </p:nvSpPr>
        <p:spPr>
          <a:xfrm rot="20940000">
            <a:off x="1767205" y="922020"/>
            <a:ext cx="403225" cy="403225"/>
          </a:xfrm>
          <a:prstGeom prst="ellipse">
            <a:avLst/>
          </a:prstGeom>
          <a:solidFill>
            <a:srgbClr val="0072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Овал 13"/>
          <p:cNvSpPr/>
          <p:nvPr/>
        </p:nvSpPr>
        <p:spPr>
          <a:xfrm rot="20940000">
            <a:off x="1400810" y="3078480"/>
            <a:ext cx="501650" cy="501650"/>
          </a:xfrm>
          <a:prstGeom prst="ellipse">
            <a:avLst/>
          </a:prstGeom>
          <a:solidFill>
            <a:srgbClr val="0041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5" name="Овал 14"/>
          <p:cNvSpPr/>
          <p:nvPr/>
        </p:nvSpPr>
        <p:spPr>
          <a:xfrm rot="20940000">
            <a:off x="8732520" y="3592195"/>
            <a:ext cx="501650" cy="501650"/>
          </a:xfrm>
          <a:prstGeom prst="ellipse">
            <a:avLst/>
          </a:prstGeom>
          <a:solidFill>
            <a:srgbClr val="0041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Овал 12"/>
          <p:cNvSpPr/>
          <p:nvPr/>
        </p:nvSpPr>
        <p:spPr>
          <a:xfrm rot="20940000">
            <a:off x="12917170" y="-1504950"/>
            <a:ext cx="403225" cy="403225"/>
          </a:xfrm>
          <a:prstGeom prst="ellipse">
            <a:avLst/>
          </a:prstGeom>
          <a:solidFill>
            <a:srgbClr val="0072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pic>
        <p:nvPicPr>
          <p:cNvPr id="4" name="Picture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02990" y="-6553200"/>
            <a:ext cx="4802505" cy="3250565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 rot="20940000">
            <a:off x="12188825" y="-2178685"/>
            <a:ext cx="1022985" cy="1022985"/>
          </a:xfrm>
          <a:prstGeom prst="ellipse">
            <a:avLst/>
          </a:prstGeom>
          <a:solidFill>
            <a:srgbClr val="0016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6" name="Скругленный прямоугольник 5"/>
          <p:cNvSpPr/>
          <p:nvPr/>
        </p:nvSpPr>
        <p:spPr>
          <a:xfrm>
            <a:off x="664845" y="9042400"/>
            <a:ext cx="10962640" cy="734060"/>
          </a:xfrm>
          <a:prstGeom prst="roundRect">
            <a:avLst/>
          </a:prstGeom>
          <a:solidFill>
            <a:srgbClr val="4040B2"/>
          </a:solidFill>
          <a:ln w="63500">
            <a:gradFill>
              <a:gsLst>
                <a:gs pos="0">
                  <a:srgbClr val="00A0FC"/>
                </a:gs>
                <a:gs pos="100000">
                  <a:srgbClr val="1B00EA"/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2903855" y="7654290"/>
            <a:ext cx="6806565" cy="10763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2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Конкурсант: Колотилин Артём</a:t>
            </a:r>
            <a:br>
              <a:rPr lang="ru-RU" altLang="en-US" sz="32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</a:br>
            <a:endParaRPr lang="ru-RU" altLang="en-US" sz="3200">
              <a:solidFill>
                <a:schemeClr val="bg1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3235325" y="873061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ru-RU" altLang="en-US" sz="3200" b="1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100000">
                      <a:srgbClr val="479EFF"/>
                    </a:gs>
                  </a:gsLst>
                  <a:lin ang="5400000" scaled="0"/>
                </a:gradFill>
                <a:latin typeface="Franklin Gothic Book" panose="020B0503020102020204" charset="0"/>
                <a:cs typeface="Franklin Gothic Book" panose="020B0503020102020204" charset="0"/>
                <a:sym typeface="+mn-ea"/>
              </a:rPr>
              <a:t>Оренбург</a:t>
            </a:r>
            <a:endParaRPr lang="ru-RU" altLang="en-US" sz="3200" b="1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rgbClr val="479EFF"/>
                  </a:gs>
                </a:gsLst>
                <a:lin ang="5400000" scaled="0"/>
              </a:gradFill>
              <a:latin typeface="Franklin Gothic Book" panose="020B0503020102020204" charset="0"/>
              <a:cs typeface="Franklin Gothic Book" panose="020B0503020102020204" charset="0"/>
              <a:sym typeface="+mn-ea"/>
            </a:endParaRPr>
          </a:p>
        </p:txBody>
      </p:sp>
      <p:sp>
        <p:nvSpPr>
          <p:cNvPr id="11" name="Текстовое поле 10"/>
          <p:cNvSpPr txBox="1"/>
          <p:nvPr/>
        </p:nvSpPr>
        <p:spPr>
          <a:xfrm rot="20940000">
            <a:off x="12189460" y="-1958975"/>
            <a:ext cx="10217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320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3</a:t>
            </a:r>
            <a:r>
              <a:rPr lang="en-US" altLang="en-US" sz="3200">
                <a:solidFill>
                  <a:schemeClr val="bg1"/>
                </a:solidFill>
                <a:latin typeface="Franklin Gothic Heavy" panose="020B0903020102020204" charset="0"/>
                <a:cs typeface="Franklin Gothic Heavy" panose="020B0903020102020204" charset="0"/>
              </a:rPr>
              <a:t>D</a:t>
            </a:r>
            <a:endParaRPr lang="en-US" altLang="en-US" sz="3200">
              <a:solidFill>
                <a:schemeClr val="bg1"/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</p:txBody>
      </p:sp>
      <p:sp>
        <p:nvSpPr>
          <p:cNvPr id="12" name="Овал 11"/>
          <p:cNvSpPr/>
          <p:nvPr/>
        </p:nvSpPr>
        <p:spPr>
          <a:xfrm rot="20940000">
            <a:off x="-437515" y="-3740785"/>
            <a:ext cx="403225" cy="403225"/>
          </a:xfrm>
          <a:prstGeom prst="ellipse">
            <a:avLst/>
          </a:prstGeom>
          <a:solidFill>
            <a:srgbClr val="0072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4" name="Овал 13"/>
          <p:cNvSpPr/>
          <p:nvPr/>
        </p:nvSpPr>
        <p:spPr>
          <a:xfrm rot="20940000">
            <a:off x="-803910" y="-1584325"/>
            <a:ext cx="501650" cy="501650"/>
          </a:xfrm>
          <a:prstGeom prst="ellipse">
            <a:avLst/>
          </a:prstGeom>
          <a:solidFill>
            <a:srgbClr val="0041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5" name="Овал 14"/>
          <p:cNvSpPr/>
          <p:nvPr/>
        </p:nvSpPr>
        <p:spPr>
          <a:xfrm rot="20940000">
            <a:off x="14569440" y="-1612265"/>
            <a:ext cx="501650" cy="501650"/>
          </a:xfrm>
          <a:prstGeom prst="ellipse">
            <a:avLst/>
          </a:prstGeom>
          <a:solidFill>
            <a:srgbClr val="0041E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-624840" y="511175"/>
            <a:ext cx="3754755" cy="4954905"/>
          </a:xfrm>
          <a:prstGeom prst="roundRect">
            <a:avLst/>
          </a:prstGeom>
          <a:solidFill>
            <a:srgbClr val="4040B2">
              <a:alpha val="67000"/>
            </a:srgbClr>
          </a:solidFill>
          <a:ln w="63500">
            <a:gradFill>
              <a:gsLst>
                <a:gs pos="0">
                  <a:srgbClr val="00A0FC"/>
                </a:gs>
                <a:gs pos="100000">
                  <a:srgbClr val="1B00EA"/>
                </a:gs>
              </a:gsLst>
              <a:lin ang="474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142875" y="2758440"/>
            <a:ext cx="28441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 sz="24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Жанр и аудитория</a:t>
            </a:r>
            <a:endParaRPr lang="ru-RU" altLang="en-US" sz="2400">
              <a:solidFill>
                <a:schemeClr val="bg1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142875" y="4013200"/>
            <a:ext cx="28441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ru-RU" altLang="en-US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Основные механики</a:t>
            </a:r>
            <a:endParaRPr lang="ru-RU" altLang="en-US">
              <a:solidFill>
                <a:schemeClr val="bg1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pic>
        <p:nvPicPr>
          <p:cNvPr id="10" name="Изображение 9" descr="image 5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75750" y="460375"/>
            <a:ext cx="2787650" cy="2758440"/>
          </a:xfrm>
          <a:prstGeom prst="rect">
            <a:avLst/>
          </a:prstGeom>
        </p:spPr>
      </p:pic>
      <p:sp>
        <p:nvSpPr>
          <p:cNvPr id="16" name="Скругленный прямоугольник 15"/>
          <p:cNvSpPr/>
          <p:nvPr/>
        </p:nvSpPr>
        <p:spPr>
          <a:xfrm>
            <a:off x="3693795" y="1605280"/>
            <a:ext cx="5565775" cy="949960"/>
          </a:xfrm>
          <a:prstGeom prst="roundRect">
            <a:avLst/>
          </a:prstGeom>
          <a:solidFill>
            <a:srgbClr val="4040B2"/>
          </a:solidFill>
          <a:ln w="63500">
            <a:gradFill>
              <a:gsLst>
                <a:gs pos="0">
                  <a:srgbClr val="00A0FC"/>
                </a:gs>
                <a:gs pos="100000">
                  <a:srgbClr val="1B00EA"/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18" name="Текстовое поле 17"/>
          <p:cNvSpPr txBox="1"/>
          <p:nvPr/>
        </p:nvSpPr>
        <p:spPr>
          <a:xfrm>
            <a:off x="3867150" y="1686560"/>
            <a:ext cx="5201920" cy="787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en-US" altLang="en-US" sz="2400">
                <a:solidFill>
                  <a:srgbClr val="9FE5FF"/>
                </a:solidFill>
                <a:latin typeface="Franklin Gothic Book" panose="020B0503020102020204" charset="0"/>
                <a:cs typeface="Franklin Gothic Book" panose="020B0503020102020204" charset="0"/>
                <a:sym typeface="+mn-ea"/>
              </a:rPr>
              <a:t>Жанр</a:t>
            </a:r>
            <a:r>
              <a:rPr lang="en-US" altLang="ru-RU" sz="2400">
                <a:solidFill>
                  <a:srgbClr val="9FE5FF"/>
                </a:solidFill>
                <a:latin typeface="Franklin Gothic Book" panose="020B0503020102020204" charset="0"/>
                <a:cs typeface="Franklin Gothic Book" panose="020B0503020102020204" charset="0"/>
                <a:sym typeface="+mn-ea"/>
              </a:rPr>
              <a:t> </a:t>
            </a:r>
            <a:r>
              <a:rPr lang="en-US" altLang="en-US" sz="2400">
                <a:solidFill>
                  <a:srgbClr val="9FE5FF"/>
                </a:solidFill>
                <a:latin typeface="Franklin Gothic Book" panose="020B0503020102020204" charset="0"/>
                <a:cs typeface="Franklin Gothic Book" panose="020B0503020102020204" charset="0"/>
                <a:sym typeface="+mn-ea"/>
              </a:rPr>
              <a:t>игры</a:t>
            </a:r>
            <a:endParaRPr lang="en-US" altLang="ru-RU" sz="2400">
              <a:solidFill>
                <a:srgbClr val="9FE5FF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ru-RU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3D </a:t>
            </a:r>
            <a:r>
              <a:rPr lang="en-US" altLang="en-US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головоломка</a:t>
            </a:r>
            <a:endParaRPr lang="ru-RU" altLang="en-US" sz="2800">
              <a:solidFill>
                <a:schemeClr val="bg1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  <p:sp>
        <p:nvSpPr>
          <p:cNvPr id="21" name="Скругленный прямоугольник 20"/>
          <p:cNvSpPr/>
          <p:nvPr/>
        </p:nvSpPr>
        <p:spPr>
          <a:xfrm>
            <a:off x="3760470" y="3124200"/>
            <a:ext cx="5565775" cy="949960"/>
          </a:xfrm>
          <a:prstGeom prst="roundRect">
            <a:avLst/>
          </a:prstGeom>
          <a:solidFill>
            <a:srgbClr val="4040B2"/>
          </a:solidFill>
          <a:ln w="63500">
            <a:gradFill>
              <a:gsLst>
                <a:gs pos="0">
                  <a:srgbClr val="00A0FC"/>
                </a:gs>
                <a:gs pos="100000">
                  <a:srgbClr val="1B00EA"/>
                </a:gs>
              </a:gsLst>
              <a:path path="rect">
                <a:fillToRect l="50000" t="50000" r="50000" b="50000"/>
              </a:path>
              <a:tileRect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3933825" y="3205480"/>
            <a:ext cx="5201920" cy="78740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p>
            <a:pPr algn="l">
              <a:lnSpc>
                <a:spcPct val="100000"/>
              </a:lnSpc>
            </a:pPr>
            <a:r>
              <a:rPr lang="ru-RU" altLang="en-US" sz="2400">
                <a:solidFill>
                  <a:srgbClr val="9FE5FF"/>
                </a:solidFill>
                <a:latin typeface="Franklin Gothic Book" panose="020B0503020102020204" charset="0"/>
                <a:cs typeface="Franklin Gothic Book" panose="020B0503020102020204" charset="0"/>
                <a:sym typeface="+mn-ea"/>
              </a:rPr>
              <a:t>Аудитория</a:t>
            </a:r>
            <a:endParaRPr lang="en-US" altLang="ru-RU" sz="2400">
              <a:solidFill>
                <a:srgbClr val="9FE5FF"/>
              </a:solidFill>
              <a:latin typeface="Franklin Gothic Book" panose="020B0503020102020204" charset="0"/>
              <a:cs typeface="Franklin Gothic Book" panose="020B0503020102020204" charset="0"/>
            </a:endParaRPr>
          </a:p>
          <a:p>
            <a:pPr algn="ctr">
              <a:lnSpc>
                <a:spcPct val="100000"/>
              </a:lnSpc>
            </a:pPr>
            <a:r>
              <a:rPr lang="en-US" altLang="ru-RU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8+, </a:t>
            </a:r>
            <a:r>
              <a:rPr lang="en-US" altLang="en-US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любители</a:t>
            </a:r>
            <a:r>
              <a:rPr lang="en-US" altLang="ru-RU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логических</a:t>
            </a:r>
            <a:r>
              <a:rPr lang="en-US" altLang="ru-RU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 </a:t>
            </a:r>
            <a:r>
              <a:rPr lang="en-US" altLang="en-US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игр</a:t>
            </a:r>
            <a:r>
              <a:rPr lang="en-US" altLang="ru-RU" sz="2800">
                <a:solidFill>
                  <a:schemeClr val="bg1"/>
                </a:solidFill>
                <a:latin typeface="Franklin Gothic Medium" panose="020B0603020102020204" charset="0"/>
                <a:cs typeface="Franklin Gothic Medium" panose="020B0603020102020204" charset="0"/>
              </a:rPr>
              <a:t>.</a:t>
            </a:r>
            <a:endParaRPr lang="ru-RU" altLang="en-US" sz="2800">
              <a:solidFill>
                <a:schemeClr val="bg1"/>
              </a:solidFill>
              <a:latin typeface="Franklin Gothic Medium" panose="020B0603020102020204" charset="0"/>
              <a:cs typeface="Franklin Gothic Medium" panose="020B0603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EE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94430" y="511175"/>
            <a:ext cx="4802505" cy="3250565"/>
          </a:xfrm>
          <a:prstGeom prst="rect">
            <a:avLst/>
          </a:prstGeom>
        </p:spPr>
      </p:pic>
      <p:sp>
        <p:nvSpPr>
          <p:cNvPr id="3" name="Овал 2"/>
          <p:cNvSpPr/>
          <p:nvPr/>
        </p:nvSpPr>
        <p:spPr>
          <a:xfrm>
            <a:off x="9364345" y="3761740"/>
            <a:ext cx="3628390" cy="3628390"/>
          </a:xfrm>
          <a:prstGeom prst="ellipse">
            <a:avLst/>
          </a:prstGeom>
          <a:solidFill>
            <a:srgbClr val="0016A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  <p:sp>
        <p:nvSpPr>
          <p:cNvPr id="5" name="Скругленный прямоугольник 4"/>
          <p:cNvSpPr/>
          <p:nvPr/>
        </p:nvSpPr>
        <p:spPr>
          <a:xfrm>
            <a:off x="-528955" y="511175"/>
            <a:ext cx="3129915" cy="4954905"/>
          </a:xfrm>
          <a:prstGeom prst="roundRect">
            <a:avLst/>
          </a:prstGeom>
          <a:solidFill>
            <a:srgbClr val="4040B2">
              <a:alpha val="67000"/>
            </a:srgbClr>
          </a:solidFill>
          <a:ln w="63500">
            <a:gradFill>
              <a:gsLst>
                <a:gs pos="0">
                  <a:srgbClr val="00A0FC"/>
                </a:gs>
                <a:gs pos="100000">
                  <a:srgbClr val="1B00EA"/>
                </a:gs>
              </a:gsLst>
              <a:lin ang="4740000" scaled="1"/>
            </a:gra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ru-RU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169</Words>
  <Application>WPS Presentation</Application>
  <PresentationFormat>Widescreen</PresentationFormat>
  <Paragraphs>22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45" baseType="lpstr">
      <vt:lpstr>Arial</vt:lpstr>
      <vt:lpstr>SimSun</vt:lpstr>
      <vt:lpstr>Wingdings</vt:lpstr>
      <vt:lpstr>Microsoft YaHei</vt:lpstr>
      <vt:lpstr>Arial Unicode MS</vt:lpstr>
      <vt:lpstr>Calibri Light</vt:lpstr>
      <vt:lpstr>Calibri</vt:lpstr>
      <vt:lpstr>Bahnschrift SemiBold Condensed</vt:lpstr>
      <vt:lpstr>Bahnschrift SemiLight Condensed</vt:lpstr>
      <vt:lpstr>Bahnschrift SemiLight SemiCondensed</vt:lpstr>
      <vt:lpstr>Cascadia Mono ExtraLight</vt:lpstr>
      <vt:lpstr>Consolas</vt:lpstr>
      <vt:lpstr>Franklin Gothic Book</vt:lpstr>
      <vt:lpstr>Gabriola</vt:lpstr>
      <vt:lpstr>Franklin Gothic Demi</vt:lpstr>
      <vt:lpstr>Franklin Gothic Demi Cond</vt:lpstr>
      <vt:lpstr>Franklin Gothic Heavy</vt:lpstr>
      <vt:lpstr>Franklin Gothic Medium</vt:lpstr>
      <vt:lpstr>Comic Sans MS</vt:lpstr>
      <vt:lpstr>Ebrima</vt:lpstr>
      <vt:lpstr>Franklin Gothic Medium Cond</vt:lpstr>
      <vt:lpstr>Garamond</vt:lpstr>
      <vt:lpstr>LifeTree Font</vt:lpstr>
      <vt:lpstr>Haettenschweiler</vt:lpstr>
      <vt:lpstr>Impact</vt:lpstr>
      <vt:lpstr>Ink Free</vt:lpstr>
      <vt:lpstr>Lucida Console</vt:lpstr>
      <vt:lpstr>Lucida Sans Unicode</vt:lpstr>
      <vt:lpstr>Bahnschrift Condensed</vt:lpstr>
      <vt:lpstr>Arial Black</vt:lpstr>
      <vt:lpstr>Bookman Old Style</vt:lpstr>
      <vt:lpstr>Arial Narrow</vt:lpstr>
      <vt:lpstr>Bahnschrift</vt:lpstr>
      <vt:lpstr>Cambria Math</vt:lpstr>
      <vt:lpstr>Cascadia Code</vt:lpstr>
      <vt:lpstr>Cascadia Mono SemiLight</vt:lpstr>
      <vt:lpstr>Cascadia Code SemiLight</vt:lpstr>
      <vt:lpstr>Cascadia Code ExtraLight</vt:lpstr>
      <vt:lpstr>Cascadia Code SemiBold</vt:lpstr>
      <vt:lpstr>Century</vt:lpstr>
      <vt:lpstr>Constantia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Анастасия Колотилина</dc:creator>
  <cp:lastModifiedBy>kolot</cp:lastModifiedBy>
  <cp:revision>13</cp:revision>
  <dcterms:created xsi:type="dcterms:W3CDTF">2025-07-23T00:59:00Z</dcterms:created>
  <dcterms:modified xsi:type="dcterms:W3CDTF">2026-04-16T18:52:25Z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1049-12.2.0.23196</vt:lpwstr>
  </property>
</Properties>
</file>